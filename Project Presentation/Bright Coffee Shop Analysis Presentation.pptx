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E13229-E18E-462C-9CA4-71A595FAFE6C}" type="datetimeFigureOut">
              <a:rPr lang="en-ZA" smtClean="0"/>
              <a:t>2026/04/02</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8C19BA-303F-42A8-BDCB-3DA4285A43EF}" type="slidenum">
              <a:rPr lang="en-ZA" smtClean="0"/>
              <a:t>‹#›</a:t>
            </a:fld>
            <a:endParaRPr lang="en-ZA"/>
          </a:p>
        </p:txBody>
      </p:sp>
    </p:spTree>
    <p:extLst>
      <p:ext uri="{BB962C8B-B14F-4D97-AF65-F5344CB8AC3E}">
        <p14:creationId xmlns:p14="http://schemas.microsoft.com/office/powerpoint/2010/main" val="1233277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B18C19BA-303F-42A8-BDCB-3DA4285A43EF}" type="slidenum">
              <a:rPr lang="en-ZA" smtClean="0"/>
              <a:t>1</a:t>
            </a:fld>
            <a:endParaRPr lang="en-ZA"/>
          </a:p>
        </p:txBody>
      </p:sp>
    </p:spTree>
    <p:extLst>
      <p:ext uri="{BB962C8B-B14F-4D97-AF65-F5344CB8AC3E}">
        <p14:creationId xmlns:p14="http://schemas.microsoft.com/office/powerpoint/2010/main" val="4162932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B18C19BA-303F-42A8-BDCB-3DA4285A43EF}" type="slidenum">
              <a:rPr lang="en-ZA" smtClean="0"/>
              <a:t>5</a:t>
            </a:fld>
            <a:endParaRPr lang="en-ZA"/>
          </a:p>
        </p:txBody>
      </p:sp>
    </p:spTree>
    <p:extLst>
      <p:ext uri="{BB962C8B-B14F-4D97-AF65-F5344CB8AC3E}">
        <p14:creationId xmlns:p14="http://schemas.microsoft.com/office/powerpoint/2010/main" val="1590641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4/2/2026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01712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4/2/2026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57606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4/2/2026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24100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4/2/2026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727000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4/2/2026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40696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4/2/2026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77018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4/2/2026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96465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4/2/2026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21588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4/2/2026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93437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4/2/2026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4725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4/2/2026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4307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4/2/2026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8515631"/>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55" r:id="rId6"/>
    <p:sldLayoutId id="2147483751" r:id="rId7"/>
    <p:sldLayoutId id="2147483752" r:id="rId8"/>
    <p:sldLayoutId id="2147483753" r:id="rId9"/>
    <p:sldLayoutId id="2147483754" r:id="rId10"/>
    <p:sldLayoutId id="2147483756"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video" Target="https://www.youtube.com/embed/LHUIWBTlClM?feature=oembed" TargetMode="External"/></Relationships>
</file>

<file path=ppt/slides/_rels/slide3.xml.rels><?xml version="1.0" encoding="UTF-8" standalone="yes"?>
<Relationships xmlns="http://schemas.openxmlformats.org/package/2006/relationships"><Relationship Id="rId3" Type="http://schemas.openxmlformats.org/officeDocument/2006/relationships/oleObject" Target="file:///C:\Users\amaswanganye\Downloads\Visualization%20analysis.xlsx!Revenue_per_product_per_day!%5bVisualization%20analysis.xlsx%5dRevenue_per_product_per_day%20Chart%201" TargetMode="External"/><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file:///C:\Users\amaswanganye\Downloads\Visualization%20analysis.xlsx!Revenue_per_store_location!%5bVisualization%20analysis.xlsx%5dRevenue_per_store_location%20Chart%202" TargetMode="External"/><Relationship Id="rId1" Type="http://schemas.openxmlformats.org/officeDocument/2006/relationships/slideLayout" Target="../slideLayouts/slideLayout5.xml"/><Relationship Id="rId5" Type="http://schemas.openxmlformats.org/officeDocument/2006/relationships/image" Target="../media/image6.emf"/><Relationship Id="rId4" Type="http://schemas.openxmlformats.org/officeDocument/2006/relationships/oleObject" Target="file:///C:\Users\amaswanganye\Downloads\Visualization%20analysis.xlsx!Revenue_per_weekday_and_weekend!%5bVisualization%20analysis.xlsx%5dRevenue_per_weekday_and_weekend%20Chart%201" TargetMode="External"/></Relationships>
</file>

<file path=ppt/slides/_rels/slide5.xml.rels><?xml version="1.0" encoding="UTF-8" standalone="yes"?>
<Relationships xmlns="http://schemas.openxmlformats.org/package/2006/relationships"><Relationship Id="rId3" Type="http://schemas.openxmlformats.org/officeDocument/2006/relationships/oleObject" Target="file:///C:\Users\amaswanganye\Downloads\Visualization%20analysis.xlsx!Revenue%20_per_month_per_store!%5bVisualization%20analysis.xlsx%5dRevenue%20_per_month_per_store%20Chart%201"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sclera.be/en/picto/detail/19150" TargetMode="External"/><Relationship Id="rId5" Type="http://schemas.openxmlformats.org/officeDocument/2006/relationships/image" Target="../media/image8.png"/><Relationship Id="rId4" Type="http://schemas.openxmlformats.org/officeDocument/2006/relationships/image" Target="../media/image7.emf"/></Relationships>
</file>

<file path=ppt/slides/_rels/slide6.xml.rels><?xml version="1.0" encoding="UTF-8" standalone="yes"?>
<Relationships xmlns="http://schemas.openxmlformats.org/package/2006/relationships"><Relationship Id="rId3" Type="http://schemas.openxmlformats.org/officeDocument/2006/relationships/image" Target="../media/image9.emf"/><Relationship Id="rId7" Type="http://schemas.openxmlformats.org/officeDocument/2006/relationships/hyperlink" Target="http://englishmilagrosa.blogspot.com/2013/10/learn-hours-in-english.html" TargetMode="External"/><Relationship Id="rId2" Type="http://schemas.openxmlformats.org/officeDocument/2006/relationships/oleObject" Target="file:///C:\Users\amaswanganye\Downloads\Visualization%20analysis.xlsx!Peak_time_sales!%5bVisualization%20analysis.xlsx%5dPeak_time_sales%20Chart%201" TargetMode="Externa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hyperlink" Target="https://dulwlpaper.blogspot.com/2013/09/lovely-and-beautiful-good-morning.html" TargetMode="External"/><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image" Target="../media/image12.emf"/><Relationship Id="rId7" Type="http://schemas.openxmlformats.org/officeDocument/2006/relationships/hyperlink" Target="https://pxhere.com/en/photo/696094" TargetMode="External"/><Relationship Id="rId2" Type="http://schemas.openxmlformats.org/officeDocument/2006/relationships/oleObject" Target="file:///C:\Users\amaswanganye\Downloads\Visualization%20analysis.xlsx!Qty_items_sold_per_product!%5bVisualization%20analysis.xlsx%5dQty_items_sold_per_product%20Chart%201" TargetMode="External"/><Relationship Id="rId1" Type="http://schemas.openxmlformats.org/officeDocument/2006/relationships/slideLayout" Target="../slideLayouts/slideLayout2.xml"/><Relationship Id="rId6" Type="http://schemas.openxmlformats.org/officeDocument/2006/relationships/image" Target="../media/image14.jpg"/><Relationship Id="rId5" Type="http://schemas.openxmlformats.org/officeDocument/2006/relationships/hyperlink" Target="https://pxhere.com/en/photo/1076802" TargetMode="External"/><Relationship Id="rId4" Type="http://schemas.openxmlformats.org/officeDocument/2006/relationships/image" Target="../media/image13.jpg"/><Relationship Id="rId9" Type="http://schemas.openxmlformats.org/officeDocument/2006/relationships/hyperlink" Target="https://pixabay.com/en/bakery-sweets-candy-chocolate-food-411800/"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file:///C:\Users\amaswanganye\Downloads\Visualization%20analysis.xlsx!Most_selling_product_by_reve!%5bVisualization%20analysis.xlsx%5dMost_selling_product_by_reve%20Chart%201" TargetMode="External"/><Relationship Id="rId1" Type="http://schemas.openxmlformats.org/officeDocument/2006/relationships/slideLayout" Target="../slideLayouts/slideLayout2.xml"/><Relationship Id="rId5" Type="http://schemas.openxmlformats.org/officeDocument/2006/relationships/hyperlink" Target="https://riadzany.blogspot.com/2011/07/changing-coffee-culture-in-morocco.html" TargetMode="Externa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5CB65D0-496F-4797-A015-C85839E35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9EEB7003-1C92-5CA0-BE0D-4774EED91CCB}"/>
              </a:ext>
            </a:extLst>
          </p:cNvPr>
          <p:cNvPicPr>
            <a:picLocks noChangeAspect="1"/>
          </p:cNvPicPr>
          <p:nvPr/>
        </p:nvPicPr>
        <p:blipFill>
          <a:blip r:embed="rId3"/>
          <a:srcRect t="19643"/>
          <a:stretch>
            <a:fillRect/>
          </a:stretch>
        </p:blipFill>
        <p:spPr>
          <a:xfrm>
            <a:off x="1" y="10"/>
            <a:ext cx="12192000" cy="6857989"/>
          </a:xfrm>
          <a:prstGeom prst="rect">
            <a:avLst/>
          </a:prstGeom>
        </p:spPr>
      </p:pic>
      <p:sp>
        <p:nvSpPr>
          <p:cNvPr id="22" name="Rectangle 21">
            <a:extLst>
              <a:ext uri="{FF2B5EF4-FFF2-40B4-BE49-F238E27FC236}">
                <a16:creationId xmlns:a16="http://schemas.microsoft.com/office/drawing/2014/main" id="{95D2C779-8883-4E5F-A170-0F464918C1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07" y="990598"/>
            <a:ext cx="12188952" cy="4745182"/>
          </a:xfrm>
          <a:prstGeom prst="rect">
            <a:avLst/>
          </a:prstGeom>
          <a:gradFill>
            <a:gsLst>
              <a:gs pos="35000">
                <a:srgbClr val="000000">
                  <a:alpha val="41000"/>
                </a:srgbClr>
              </a:gs>
              <a:gs pos="0">
                <a:srgbClr val="000000">
                  <a:alpha val="0"/>
                </a:srgbClr>
              </a:gs>
              <a:gs pos="47744">
                <a:srgbClr val="000000">
                  <a:alpha val="51000"/>
                </a:srgbClr>
              </a:gs>
              <a:gs pos="70000">
                <a:srgbClr val="000000">
                  <a:alpha val="37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06CA37-D61E-01E8-575F-046E8784A568}"/>
              </a:ext>
            </a:extLst>
          </p:cNvPr>
          <p:cNvSpPr>
            <a:spLocks noGrp="1"/>
          </p:cNvSpPr>
          <p:nvPr>
            <p:ph type="ctrTitle"/>
          </p:nvPr>
        </p:nvSpPr>
        <p:spPr>
          <a:xfrm>
            <a:off x="1833541" y="990599"/>
            <a:ext cx="5619054" cy="4849091"/>
          </a:xfrm>
        </p:spPr>
        <p:txBody>
          <a:bodyPr anchor="ctr">
            <a:normAutofit/>
          </a:bodyPr>
          <a:lstStyle/>
          <a:p>
            <a:pPr algn="r"/>
            <a:r>
              <a:rPr lang="en-ZA" dirty="0">
                <a:solidFill>
                  <a:srgbClr val="FFFFFF"/>
                </a:solidFill>
              </a:rPr>
              <a:t>Bright Coffee Shop Analysis</a:t>
            </a:r>
          </a:p>
        </p:txBody>
      </p:sp>
      <p:sp>
        <p:nvSpPr>
          <p:cNvPr id="3" name="Subtitle 2">
            <a:extLst>
              <a:ext uri="{FF2B5EF4-FFF2-40B4-BE49-F238E27FC236}">
                <a16:creationId xmlns:a16="http://schemas.microsoft.com/office/drawing/2014/main" id="{FE7B9B9B-2EAD-0D27-B34F-DD0B1B70BD35}"/>
              </a:ext>
            </a:extLst>
          </p:cNvPr>
          <p:cNvSpPr>
            <a:spLocks noGrp="1"/>
          </p:cNvSpPr>
          <p:nvPr>
            <p:ph type="subTitle" idx="1"/>
          </p:nvPr>
        </p:nvSpPr>
        <p:spPr>
          <a:xfrm>
            <a:off x="8712865" y="1447799"/>
            <a:ext cx="2368905" cy="4076699"/>
          </a:xfrm>
        </p:spPr>
        <p:txBody>
          <a:bodyPr anchor="ctr">
            <a:normAutofit/>
          </a:bodyPr>
          <a:lstStyle/>
          <a:p>
            <a:r>
              <a:rPr lang="en-ZA">
                <a:solidFill>
                  <a:srgbClr val="FFFFFF"/>
                </a:solidFill>
              </a:rPr>
              <a:t>Bright Learn</a:t>
            </a:r>
          </a:p>
        </p:txBody>
      </p:sp>
      <p:cxnSp>
        <p:nvCxnSpPr>
          <p:cNvPr id="24" name="Straight Connector 23">
            <a:extLst>
              <a:ext uri="{FF2B5EF4-FFF2-40B4-BE49-F238E27FC236}">
                <a16:creationId xmlns:a16="http://schemas.microsoft.com/office/drawing/2014/main" id="{BD96A694-258D-4418-A83C-B9BA72FD44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115300" y="1780927"/>
            <a:ext cx="0" cy="3390901"/>
          </a:xfrm>
          <a:prstGeom prst="line">
            <a:avLst/>
          </a:prstGeom>
          <a:ln w="44450">
            <a:solidFill>
              <a:srgbClr val="FFFFFF"/>
            </a:solidFill>
          </a:ln>
          <a:effectLst>
            <a:outerShdw blurRad="50800" dist="38100" dir="2700000" sx="88000" sy="88000" algn="t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971277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nline Media 2" title="Coffee presentation ☕️">
            <a:hlinkClick r:id="" action="ppaction://media"/>
            <a:extLst>
              <a:ext uri="{FF2B5EF4-FFF2-40B4-BE49-F238E27FC236}">
                <a16:creationId xmlns:a16="http://schemas.microsoft.com/office/drawing/2014/main" id="{4079981D-D359-DAF7-0628-5251D08FABFE}"/>
              </a:ext>
            </a:extLst>
          </p:cNvPr>
          <p:cNvPicPr>
            <a:picLocks noRot="1" noChangeAspect="1"/>
          </p:cNvPicPr>
          <p:nvPr>
            <a:videoFile r:link="rId1"/>
          </p:nvPr>
        </p:nvPicPr>
        <p:blipFill>
          <a:blip r:embed="rId3"/>
          <a:stretch>
            <a:fillRect/>
          </a:stretch>
        </p:blipFill>
        <p:spPr>
          <a:xfrm>
            <a:off x="570271" y="700548"/>
            <a:ext cx="10766323" cy="5456903"/>
          </a:xfrm>
          <a:prstGeom prst="rect">
            <a:avLst/>
          </a:prstGeom>
        </p:spPr>
      </p:pic>
    </p:spTree>
    <p:extLst>
      <p:ext uri="{BB962C8B-B14F-4D97-AF65-F5344CB8AC3E}">
        <p14:creationId xmlns:p14="http://schemas.microsoft.com/office/powerpoint/2010/main" val="2676090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4C5EC3-B88E-8474-5689-3BA189CB2642}"/>
              </a:ext>
            </a:extLst>
          </p:cNvPr>
          <p:cNvSpPr>
            <a:spLocks noGrp="1"/>
          </p:cNvSpPr>
          <p:nvPr>
            <p:ph type="title"/>
          </p:nvPr>
        </p:nvSpPr>
        <p:spPr>
          <a:xfrm>
            <a:off x="685800" y="899024"/>
            <a:ext cx="3076032" cy="3914947"/>
          </a:xfrm>
        </p:spPr>
        <p:txBody>
          <a:bodyPr vert="horz" lIns="91440" tIns="45720" rIns="91440" bIns="45720" rtlCol="0" anchor="t">
            <a:normAutofit/>
          </a:bodyPr>
          <a:lstStyle/>
          <a:p>
            <a:r>
              <a:rPr lang="en-US" sz="3400"/>
              <a:t>High Performance </a:t>
            </a:r>
          </a:p>
        </p:txBody>
      </p:sp>
      <p:cxnSp>
        <p:nvCxnSpPr>
          <p:cNvPr id="16" name="Straight Connector 1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3716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Chinese Teapot And Cup with solid fill">
            <a:extLst>
              <a:ext uri="{FF2B5EF4-FFF2-40B4-BE49-F238E27FC236}">
                <a16:creationId xmlns:a16="http://schemas.microsoft.com/office/drawing/2014/main" id="{BB5257AA-AE27-BE93-DCC7-6A0F2F30586F}"/>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588874" y="2570846"/>
            <a:ext cx="3420021" cy="3036135"/>
          </a:xfrm>
          <a:prstGeom prst="rect">
            <a:avLst/>
          </a:prstGeom>
        </p:spPr>
      </p:pic>
      <p:graphicFrame>
        <p:nvGraphicFramePr>
          <p:cNvPr id="6" name="Object 5">
            <a:extLst>
              <a:ext uri="{FF2B5EF4-FFF2-40B4-BE49-F238E27FC236}">
                <a16:creationId xmlns:a16="http://schemas.microsoft.com/office/drawing/2014/main" id="{BC6715F2-3CA5-0C4C-81CD-1159493C15BC}"/>
              </a:ext>
            </a:extLst>
          </p:cNvPr>
          <p:cNvGraphicFramePr>
            <a:graphicFrameLocks noChangeAspect="1"/>
          </p:cNvGraphicFramePr>
          <p:nvPr>
            <p:extLst>
              <p:ext uri="{D42A27DB-BD31-4B8C-83A1-F6EECF244321}">
                <p14:modId xmlns:p14="http://schemas.microsoft.com/office/powerpoint/2010/main" val="2153943588"/>
              </p:ext>
            </p:extLst>
          </p:nvPr>
        </p:nvGraphicFramePr>
        <p:xfrm>
          <a:off x="5318581" y="715218"/>
          <a:ext cx="6873419" cy="4090071"/>
        </p:xfrm>
        <a:graphic>
          <a:graphicData uri="http://schemas.openxmlformats.org/presentationml/2006/ole">
            <mc:AlternateContent xmlns:mc="http://schemas.openxmlformats.org/markup-compatibility/2006">
              <mc:Choice xmlns:v="urn:schemas-microsoft-com:vml" Requires="v">
                <p:oleObj name="Worksheet" r:id="rId3" imgW="6029010" imgH="3380521" progId="Excel.Sheet.12">
                  <p:link updateAutomatic="1"/>
                </p:oleObj>
              </mc:Choice>
              <mc:Fallback>
                <p:oleObj name="Worksheet" r:id="rId3" imgW="6029010" imgH="3380521" progId="Excel.Sheet.12">
                  <p:link updateAutomatic="1"/>
                  <p:pic>
                    <p:nvPicPr>
                      <p:cNvPr id="0" name=""/>
                      <p:cNvPicPr/>
                      <p:nvPr/>
                    </p:nvPicPr>
                    <p:blipFill>
                      <a:blip r:embed="rId4"/>
                      <a:stretch>
                        <a:fillRect/>
                      </a:stretch>
                    </p:blipFill>
                    <p:spPr>
                      <a:xfrm>
                        <a:off x="5318581" y="715218"/>
                        <a:ext cx="6873419" cy="4090071"/>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C4019203-77DF-C5C3-7906-E61B04F07306}"/>
              </a:ext>
            </a:extLst>
          </p:cNvPr>
          <p:cNvSpPr txBox="1"/>
          <p:nvPr/>
        </p:nvSpPr>
        <p:spPr>
          <a:xfrm>
            <a:off x="1681315" y="5451905"/>
            <a:ext cx="10009239" cy="1200329"/>
          </a:xfrm>
          <a:prstGeom prst="rect">
            <a:avLst/>
          </a:prstGeom>
          <a:noFill/>
        </p:spPr>
        <p:txBody>
          <a:bodyPr wrap="square" rtlCol="0">
            <a:spAutoFit/>
          </a:bodyPr>
          <a:lstStyle/>
          <a:p>
            <a:r>
              <a:rPr lang="en-ZA" dirty="0"/>
              <a:t>Barista Expresso is the most selling product and it has generated  the highest revenue that exceed R90,000,00 while Brewed Chai tea is the second highest selling, hot chocolate being the third and the forth selling one is Gourmet brewed coffee. These are the best selling product generating revenue from R70,000 to +R90,000</a:t>
            </a:r>
          </a:p>
        </p:txBody>
      </p:sp>
    </p:spTree>
    <p:extLst>
      <p:ext uri="{BB962C8B-B14F-4D97-AF65-F5344CB8AC3E}">
        <p14:creationId xmlns:p14="http://schemas.microsoft.com/office/powerpoint/2010/main" val="1822677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0DDC2-7111-8774-F1FA-3BE86E4E3818}"/>
              </a:ext>
            </a:extLst>
          </p:cNvPr>
          <p:cNvSpPr>
            <a:spLocks noGrp="1"/>
          </p:cNvSpPr>
          <p:nvPr>
            <p:ph type="title"/>
          </p:nvPr>
        </p:nvSpPr>
        <p:spPr>
          <a:xfrm>
            <a:off x="704088" y="958087"/>
            <a:ext cx="10689336" cy="798451"/>
          </a:xfrm>
        </p:spPr>
        <p:txBody>
          <a:bodyPr>
            <a:normAutofit/>
          </a:bodyPr>
          <a:lstStyle/>
          <a:p>
            <a:r>
              <a:rPr lang="en-ZA" sz="3200" dirty="0"/>
              <a:t>Comparison of revenue between store and week</a:t>
            </a:r>
          </a:p>
        </p:txBody>
      </p:sp>
      <p:sp>
        <p:nvSpPr>
          <p:cNvPr id="3" name="Text Placeholder 2">
            <a:extLst>
              <a:ext uri="{FF2B5EF4-FFF2-40B4-BE49-F238E27FC236}">
                <a16:creationId xmlns:a16="http://schemas.microsoft.com/office/drawing/2014/main" id="{08516996-2784-B8DD-0B4C-77147580D60F}"/>
              </a:ext>
            </a:extLst>
          </p:cNvPr>
          <p:cNvSpPr>
            <a:spLocks noGrp="1"/>
          </p:cNvSpPr>
          <p:nvPr>
            <p:ph type="body" idx="1"/>
          </p:nvPr>
        </p:nvSpPr>
        <p:spPr>
          <a:xfrm>
            <a:off x="704088" y="1633504"/>
            <a:ext cx="5212080" cy="657225"/>
          </a:xfrm>
        </p:spPr>
        <p:txBody>
          <a:bodyPr/>
          <a:lstStyle/>
          <a:p>
            <a:r>
              <a:rPr lang="en-ZA" dirty="0"/>
              <a:t>Revenue by Location</a:t>
            </a:r>
          </a:p>
        </p:txBody>
      </p:sp>
      <p:sp>
        <p:nvSpPr>
          <p:cNvPr id="4" name="Content Placeholder 3">
            <a:extLst>
              <a:ext uri="{FF2B5EF4-FFF2-40B4-BE49-F238E27FC236}">
                <a16:creationId xmlns:a16="http://schemas.microsoft.com/office/drawing/2014/main" id="{4CAD23B9-D25C-ABBD-29D8-577BCA7390A5}"/>
              </a:ext>
            </a:extLst>
          </p:cNvPr>
          <p:cNvSpPr>
            <a:spLocks noGrp="1"/>
          </p:cNvSpPr>
          <p:nvPr>
            <p:ph sz="half" idx="2"/>
          </p:nvPr>
        </p:nvSpPr>
        <p:spPr/>
        <p:txBody>
          <a:bodyPr>
            <a:normAutofit/>
          </a:bodyPr>
          <a:lstStyle/>
          <a:p>
            <a:r>
              <a:rPr lang="en-ZA" sz="1400" dirty="0"/>
              <a:t>Hell’s kitchen has the highest revenue as shown on the chart while Astoria and Lower Manhattan are almost equal in revenue.</a:t>
            </a:r>
          </a:p>
        </p:txBody>
      </p:sp>
      <p:sp>
        <p:nvSpPr>
          <p:cNvPr id="5" name="Text Placeholder 4">
            <a:extLst>
              <a:ext uri="{FF2B5EF4-FFF2-40B4-BE49-F238E27FC236}">
                <a16:creationId xmlns:a16="http://schemas.microsoft.com/office/drawing/2014/main" id="{0EF83E90-F2CA-F0B1-5283-A2EE344AD688}"/>
              </a:ext>
            </a:extLst>
          </p:cNvPr>
          <p:cNvSpPr>
            <a:spLocks noGrp="1"/>
          </p:cNvSpPr>
          <p:nvPr>
            <p:ph type="body" sz="quarter" idx="3"/>
          </p:nvPr>
        </p:nvSpPr>
        <p:spPr>
          <a:xfrm>
            <a:off x="6181344" y="1622605"/>
            <a:ext cx="5212080" cy="657225"/>
          </a:xfrm>
        </p:spPr>
        <p:txBody>
          <a:bodyPr/>
          <a:lstStyle/>
          <a:p>
            <a:r>
              <a:rPr lang="en-ZA" dirty="0"/>
              <a:t>Revenue by week</a:t>
            </a:r>
          </a:p>
        </p:txBody>
      </p:sp>
      <p:sp>
        <p:nvSpPr>
          <p:cNvPr id="6" name="Content Placeholder 5">
            <a:extLst>
              <a:ext uri="{FF2B5EF4-FFF2-40B4-BE49-F238E27FC236}">
                <a16:creationId xmlns:a16="http://schemas.microsoft.com/office/drawing/2014/main" id="{1C1D36CE-0EFD-DE05-B86F-4323218144AB}"/>
              </a:ext>
            </a:extLst>
          </p:cNvPr>
          <p:cNvSpPr>
            <a:spLocks noGrp="1"/>
          </p:cNvSpPr>
          <p:nvPr>
            <p:ph sz="quarter" idx="4"/>
          </p:nvPr>
        </p:nvSpPr>
        <p:spPr/>
        <p:txBody>
          <a:bodyPr>
            <a:normAutofit/>
          </a:bodyPr>
          <a:lstStyle/>
          <a:p>
            <a:pPr marL="0" indent="0">
              <a:buNone/>
            </a:pPr>
            <a:r>
              <a:rPr lang="en-ZA" sz="800" dirty="0"/>
              <a:t> </a:t>
            </a:r>
            <a:r>
              <a:rPr lang="en-GB" sz="1400" dirty="0"/>
              <a:t>The coffee shop generates more revenue during weekdays compared to weekends. This may be because customers are more active during the week due to work routines, while on weekends, many people stay at home and prepare their own beverages.</a:t>
            </a:r>
            <a:r>
              <a:rPr lang="en-ZA" sz="1400" dirty="0"/>
              <a:t>.</a:t>
            </a:r>
          </a:p>
        </p:txBody>
      </p:sp>
      <p:graphicFrame>
        <p:nvGraphicFramePr>
          <p:cNvPr id="7" name="Object 6">
            <a:extLst>
              <a:ext uri="{FF2B5EF4-FFF2-40B4-BE49-F238E27FC236}">
                <a16:creationId xmlns:a16="http://schemas.microsoft.com/office/drawing/2014/main" id="{FD207706-E714-968C-A2B4-7260417DFCE6}"/>
              </a:ext>
            </a:extLst>
          </p:cNvPr>
          <p:cNvGraphicFramePr>
            <a:graphicFrameLocks noChangeAspect="1"/>
          </p:cNvGraphicFramePr>
          <p:nvPr>
            <p:extLst>
              <p:ext uri="{D42A27DB-BD31-4B8C-83A1-F6EECF244321}">
                <p14:modId xmlns:p14="http://schemas.microsoft.com/office/powerpoint/2010/main" val="2429817683"/>
              </p:ext>
            </p:extLst>
          </p:nvPr>
        </p:nvGraphicFramePr>
        <p:xfrm>
          <a:off x="798576" y="3148775"/>
          <a:ext cx="4572000" cy="2751138"/>
        </p:xfrm>
        <a:graphic>
          <a:graphicData uri="http://schemas.openxmlformats.org/presentationml/2006/ole">
            <mc:AlternateContent xmlns:mc="http://schemas.openxmlformats.org/markup-compatibility/2006">
              <mc:Choice xmlns:v="urn:schemas-microsoft-com:vml" Requires="v">
                <p:oleObj name="Worksheet" r:id="rId2" imgW="4572000" imgH="2750553" progId="Excel.Sheet.12">
                  <p:link updateAutomatic="1"/>
                </p:oleObj>
              </mc:Choice>
              <mc:Fallback>
                <p:oleObj name="Worksheet" r:id="rId2" imgW="4572000" imgH="2750553" progId="Excel.Sheet.12">
                  <p:link updateAutomatic="1"/>
                  <p:pic>
                    <p:nvPicPr>
                      <p:cNvPr id="0" name=""/>
                      <p:cNvPicPr/>
                      <p:nvPr/>
                    </p:nvPicPr>
                    <p:blipFill>
                      <a:blip r:embed="rId3"/>
                      <a:stretch>
                        <a:fillRect/>
                      </a:stretch>
                    </p:blipFill>
                    <p:spPr>
                      <a:xfrm>
                        <a:off x="798576" y="3148775"/>
                        <a:ext cx="4572000" cy="2751138"/>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ED4E2A28-D92F-27FD-3682-DD6F960AE0CF}"/>
              </a:ext>
            </a:extLst>
          </p:cNvPr>
          <p:cNvGraphicFramePr>
            <a:graphicFrameLocks noChangeAspect="1"/>
          </p:cNvGraphicFramePr>
          <p:nvPr>
            <p:extLst>
              <p:ext uri="{D42A27DB-BD31-4B8C-83A1-F6EECF244321}">
                <p14:modId xmlns:p14="http://schemas.microsoft.com/office/powerpoint/2010/main" val="4150478346"/>
              </p:ext>
            </p:extLst>
          </p:nvPr>
        </p:nvGraphicFramePr>
        <p:xfrm>
          <a:off x="6328828" y="3425672"/>
          <a:ext cx="4581525" cy="2474241"/>
        </p:xfrm>
        <a:graphic>
          <a:graphicData uri="http://schemas.openxmlformats.org/presentationml/2006/ole">
            <mc:AlternateContent xmlns:mc="http://schemas.openxmlformats.org/markup-compatibility/2006">
              <mc:Choice xmlns:v="urn:schemas-microsoft-com:vml" Requires="v">
                <p:oleObj name="Worksheet" r:id="rId4" imgW="4581342" imgH="2750859" progId="Excel.Sheet.12">
                  <p:link updateAutomatic="1"/>
                </p:oleObj>
              </mc:Choice>
              <mc:Fallback>
                <p:oleObj name="Worksheet" r:id="rId4" imgW="4581342" imgH="2750859" progId="Excel.Sheet.12">
                  <p:link updateAutomatic="1"/>
                  <p:pic>
                    <p:nvPicPr>
                      <p:cNvPr id="0" name=""/>
                      <p:cNvPicPr/>
                      <p:nvPr/>
                    </p:nvPicPr>
                    <p:blipFill>
                      <a:blip r:embed="rId5"/>
                      <a:stretch>
                        <a:fillRect/>
                      </a:stretch>
                    </p:blipFill>
                    <p:spPr>
                      <a:xfrm>
                        <a:off x="6328828" y="3425672"/>
                        <a:ext cx="4581525" cy="2474241"/>
                      </a:xfrm>
                      <a:prstGeom prst="rect">
                        <a:avLst/>
                      </a:prstGeom>
                    </p:spPr>
                  </p:pic>
                </p:oleObj>
              </mc:Fallback>
            </mc:AlternateContent>
          </a:graphicData>
        </a:graphic>
      </p:graphicFrame>
    </p:spTree>
    <p:extLst>
      <p:ext uri="{BB962C8B-B14F-4D97-AF65-F5344CB8AC3E}">
        <p14:creationId xmlns:p14="http://schemas.microsoft.com/office/powerpoint/2010/main" val="3735206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AA85E-8293-EBFC-4C1C-68448FCCBDD2}"/>
              </a:ext>
            </a:extLst>
          </p:cNvPr>
          <p:cNvSpPr>
            <a:spLocks noGrp="1"/>
          </p:cNvSpPr>
          <p:nvPr>
            <p:ph type="title"/>
          </p:nvPr>
        </p:nvSpPr>
        <p:spPr>
          <a:xfrm>
            <a:off x="700635" y="914400"/>
            <a:ext cx="10691265" cy="914400"/>
          </a:xfrm>
        </p:spPr>
        <p:txBody>
          <a:bodyPr>
            <a:normAutofit fontScale="90000"/>
          </a:bodyPr>
          <a:lstStyle/>
          <a:p>
            <a:r>
              <a:rPr lang="en-ZA" dirty="0"/>
              <a:t>Revenue by the three stores from </a:t>
            </a:r>
            <a:r>
              <a:rPr lang="en-ZA" dirty="0" err="1"/>
              <a:t>jan</a:t>
            </a:r>
            <a:r>
              <a:rPr lang="en-ZA" dirty="0"/>
              <a:t> to Jun</a:t>
            </a:r>
          </a:p>
        </p:txBody>
      </p:sp>
      <p:sp>
        <p:nvSpPr>
          <p:cNvPr id="3" name="Content Placeholder 2">
            <a:extLst>
              <a:ext uri="{FF2B5EF4-FFF2-40B4-BE49-F238E27FC236}">
                <a16:creationId xmlns:a16="http://schemas.microsoft.com/office/drawing/2014/main" id="{BC2FDD20-15B8-6505-B43B-D53CB0BB282E}"/>
              </a:ext>
            </a:extLst>
          </p:cNvPr>
          <p:cNvSpPr>
            <a:spLocks noGrp="1"/>
          </p:cNvSpPr>
          <p:nvPr>
            <p:ph idx="1"/>
          </p:nvPr>
        </p:nvSpPr>
        <p:spPr>
          <a:xfrm>
            <a:off x="700636" y="1897626"/>
            <a:ext cx="10691264" cy="4064262"/>
          </a:xfrm>
        </p:spPr>
        <p:txBody>
          <a:bodyPr>
            <a:normAutofit/>
          </a:bodyPr>
          <a:lstStyle/>
          <a:p>
            <a:pPr marL="0" indent="0">
              <a:buNone/>
            </a:pPr>
            <a:r>
              <a:rPr lang="en-ZA" sz="1600" dirty="0"/>
              <a:t>The revenue from January to February decreased and started picking up from the month of march to June. Hell’s kitchen having the highest revenue every month while </a:t>
            </a:r>
            <a:r>
              <a:rPr lang="en-GB" sz="1600" dirty="0"/>
              <a:t>Astoria and Lower Manhattan made almost the same amount of money, with only small differences between them</a:t>
            </a:r>
            <a:endParaRPr lang="en-ZA" sz="1600" dirty="0"/>
          </a:p>
        </p:txBody>
      </p:sp>
      <p:graphicFrame>
        <p:nvGraphicFramePr>
          <p:cNvPr id="5" name="Object 4">
            <a:extLst>
              <a:ext uri="{FF2B5EF4-FFF2-40B4-BE49-F238E27FC236}">
                <a16:creationId xmlns:a16="http://schemas.microsoft.com/office/drawing/2014/main" id="{DA45C208-01B5-04A4-E45B-D9ABB6C8E54D}"/>
              </a:ext>
            </a:extLst>
          </p:cNvPr>
          <p:cNvGraphicFramePr>
            <a:graphicFrameLocks noChangeAspect="1"/>
          </p:cNvGraphicFramePr>
          <p:nvPr>
            <p:extLst>
              <p:ext uri="{D42A27DB-BD31-4B8C-83A1-F6EECF244321}">
                <p14:modId xmlns:p14="http://schemas.microsoft.com/office/powerpoint/2010/main" val="3793210476"/>
              </p:ext>
            </p:extLst>
          </p:nvPr>
        </p:nvGraphicFramePr>
        <p:xfrm>
          <a:off x="800100" y="2920181"/>
          <a:ext cx="6436442" cy="3210232"/>
        </p:xfrm>
        <a:graphic>
          <a:graphicData uri="http://schemas.openxmlformats.org/presentationml/2006/ole">
            <mc:AlternateContent xmlns:mc="http://schemas.openxmlformats.org/markup-compatibility/2006">
              <mc:Choice xmlns:v="urn:schemas-microsoft-com:vml" Requires="v">
                <p:oleObj name="Worksheet" r:id="rId3" imgW="6387236" imgH="3865099" progId="Excel.Sheet.12">
                  <p:link updateAutomatic="1"/>
                </p:oleObj>
              </mc:Choice>
              <mc:Fallback>
                <p:oleObj name="Worksheet" r:id="rId3" imgW="6387236" imgH="3865099" progId="Excel.Sheet.12">
                  <p:link updateAutomatic="1"/>
                  <p:pic>
                    <p:nvPicPr>
                      <p:cNvPr id="0" name=""/>
                      <p:cNvPicPr/>
                      <p:nvPr/>
                    </p:nvPicPr>
                    <p:blipFill>
                      <a:blip r:embed="rId4"/>
                      <a:stretch>
                        <a:fillRect/>
                      </a:stretch>
                    </p:blipFill>
                    <p:spPr>
                      <a:xfrm>
                        <a:off x="800100" y="2920181"/>
                        <a:ext cx="6436442" cy="3210232"/>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B692DFCF-AAB0-4ADE-8F8A-BF249516C5C9}"/>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7876372" y="2782530"/>
            <a:ext cx="3165254" cy="2372499"/>
          </a:xfrm>
          <a:prstGeom prst="rect">
            <a:avLst/>
          </a:prstGeom>
        </p:spPr>
      </p:pic>
      <p:sp>
        <p:nvSpPr>
          <p:cNvPr id="9" name="TextBox 8">
            <a:extLst>
              <a:ext uri="{FF2B5EF4-FFF2-40B4-BE49-F238E27FC236}">
                <a16:creationId xmlns:a16="http://schemas.microsoft.com/office/drawing/2014/main" id="{43B97FDC-7095-5644-8598-D4177C59CAE5}"/>
              </a:ext>
            </a:extLst>
          </p:cNvPr>
          <p:cNvSpPr txBox="1"/>
          <p:nvPr/>
        </p:nvSpPr>
        <p:spPr>
          <a:xfrm>
            <a:off x="7750246" y="5155029"/>
            <a:ext cx="3741118" cy="923330"/>
          </a:xfrm>
          <a:prstGeom prst="rect">
            <a:avLst/>
          </a:prstGeom>
          <a:noFill/>
        </p:spPr>
        <p:txBody>
          <a:bodyPr wrap="square" rtlCol="0">
            <a:spAutoFit/>
          </a:bodyPr>
          <a:lstStyle/>
          <a:p>
            <a:r>
              <a:rPr lang="en-ZA" dirty="0"/>
              <a:t>Hell’s kitchen – Best</a:t>
            </a:r>
          </a:p>
          <a:p>
            <a:r>
              <a:rPr lang="en-ZA" dirty="0"/>
              <a:t>Astoria</a:t>
            </a:r>
          </a:p>
          <a:p>
            <a:r>
              <a:rPr lang="en-ZA" dirty="0"/>
              <a:t>Lower Manhattan</a:t>
            </a:r>
          </a:p>
        </p:txBody>
      </p:sp>
    </p:spTree>
    <p:extLst>
      <p:ext uri="{BB962C8B-B14F-4D97-AF65-F5344CB8AC3E}">
        <p14:creationId xmlns:p14="http://schemas.microsoft.com/office/powerpoint/2010/main" val="3444917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53B351B7-2841-C022-E065-308581F71E31}"/>
              </a:ext>
            </a:extLst>
          </p:cNvPr>
          <p:cNvGraphicFramePr>
            <a:graphicFrameLocks noChangeAspect="1"/>
          </p:cNvGraphicFramePr>
          <p:nvPr>
            <p:extLst>
              <p:ext uri="{D42A27DB-BD31-4B8C-83A1-F6EECF244321}">
                <p14:modId xmlns:p14="http://schemas.microsoft.com/office/powerpoint/2010/main" val="584255953"/>
              </p:ext>
            </p:extLst>
          </p:nvPr>
        </p:nvGraphicFramePr>
        <p:xfrm>
          <a:off x="702530" y="755284"/>
          <a:ext cx="4581525" cy="2751137"/>
        </p:xfrm>
        <a:graphic>
          <a:graphicData uri="http://schemas.openxmlformats.org/presentationml/2006/ole">
            <mc:AlternateContent xmlns:mc="http://schemas.openxmlformats.org/markup-compatibility/2006">
              <mc:Choice xmlns:v="urn:schemas-microsoft-com:vml" Requires="v">
                <p:oleObj name="Worksheet" r:id="rId2" imgW="4581342" imgH="2750859" progId="Excel.Sheet.12">
                  <p:link updateAutomatic="1"/>
                </p:oleObj>
              </mc:Choice>
              <mc:Fallback>
                <p:oleObj name="Worksheet" r:id="rId2" imgW="4581342" imgH="2750859" progId="Excel.Sheet.12">
                  <p:link updateAutomatic="1"/>
                  <p:pic>
                    <p:nvPicPr>
                      <p:cNvPr id="0" name=""/>
                      <p:cNvPicPr/>
                      <p:nvPr/>
                    </p:nvPicPr>
                    <p:blipFill>
                      <a:blip r:embed="rId3"/>
                      <a:stretch>
                        <a:fillRect/>
                      </a:stretch>
                    </p:blipFill>
                    <p:spPr>
                      <a:xfrm>
                        <a:off x="702530" y="755284"/>
                        <a:ext cx="4581525" cy="2751137"/>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A05F3AB9-2808-73CD-0DB9-C2D89FEC7621}"/>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392984" y="863750"/>
            <a:ext cx="3391876" cy="2082651"/>
          </a:xfrm>
          <a:prstGeom prst="rect">
            <a:avLst/>
          </a:prstGeom>
        </p:spPr>
      </p:pic>
      <p:sp>
        <p:nvSpPr>
          <p:cNvPr id="5" name="TextBox 4">
            <a:extLst>
              <a:ext uri="{FF2B5EF4-FFF2-40B4-BE49-F238E27FC236}">
                <a16:creationId xmlns:a16="http://schemas.microsoft.com/office/drawing/2014/main" id="{BB555A58-6E2C-8050-E2F2-C5575A711800}"/>
              </a:ext>
            </a:extLst>
          </p:cNvPr>
          <p:cNvSpPr txBox="1"/>
          <p:nvPr/>
        </p:nvSpPr>
        <p:spPr>
          <a:xfrm>
            <a:off x="6330461" y="2946401"/>
            <a:ext cx="4142154" cy="230832"/>
          </a:xfrm>
          <a:prstGeom prst="rect">
            <a:avLst/>
          </a:prstGeom>
          <a:noFill/>
        </p:spPr>
        <p:txBody>
          <a:bodyPr wrap="square" rtlCol="0">
            <a:spAutoFit/>
          </a:bodyPr>
          <a:lstStyle/>
          <a:p>
            <a:r>
              <a:rPr lang="en-ZA" sz="900" dirty="0"/>
              <a:t>Morning hours</a:t>
            </a:r>
          </a:p>
        </p:txBody>
      </p:sp>
      <p:pic>
        <p:nvPicPr>
          <p:cNvPr id="7" name="Picture 6">
            <a:extLst>
              <a:ext uri="{FF2B5EF4-FFF2-40B4-BE49-F238E27FC236}">
                <a16:creationId xmlns:a16="http://schemas.microsoft.com/office/drawing/2014/main" id="{460D0163-F0C0-04AE-CA82-C8DADF0FC2C2}"/>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6392984" y="3247572"/>
            <a:ext cx="2835152" cy="2489401"/>
          </a:xfrm>
          <a:prstGeom prst="rect">
            <a:avLst/>
          </a:prstGeom>
        </p:spPr>
      </p:pic>
      <p:sp>
        <p:nvSpPr>
          <p:cNvPr id="8" name="TextBox 7">
            <a:extLst>
              <a:ext uri="{FF2B5EF4-FFF2-40B4-BE49-F238E27FC236}">
                <a16:creationId xmlns:a16="http://schemas.microsoft.com/office/drawing/2014/main" id="{DD2CEDE7-D3E9-E847-B868-F3CB4AF5DB4B}"/>
              </a:ext>
            </a:extLst>
          </p:cNvPr>
          <p:cNvSpPr txBox="1"/>
          <p:nvPr/>
        </p:nvSpPr>
        <p:spPr>
          <a:xfrm>
            <a:off x="7163716" y="2981571"/>
            <a:ext cx="2835152" cy="230832"/>
          </a:xfrm>
          <a:prstGeom prst="rect">
            <a:avLst/>
          </a:prstGeom>
          <a:noFill/>
        </p:spPr>
        <p:txBody>
          <a:bodyPr wrap="square" rtlCol="0">
            <a:spAutoFit/>
          </a:bodyPr>
          <a:lstStyle/>
          <a:p>
            <a:r>
              <a:rPr lang="en-ZA" sz="900" dirty="0"/>
              <a:t>00:00:00 am – 11:59:59 am </a:t>
            </a:r>
          </a:p>
        </p:txBody>
      </p:sp>
      <p:sp>
        <p:nvSpPr>
          <p:cNvPr id="9" name="TextBox 8">
            <a:extLst>
              <a:ext uri="{FF2B5EF4-FFF2-40B4-BE49-F238E27FC236}">
                <a16:creationId xmlns:a16="http://schemas.microsoft.com/office/drawing/2014/main" id="{9BDCA7AE-ACC7-705A-A193-2D43DF884314}"/>
              </a:ext>
            </a:extLst>
          </p:cNvPr>
          <p:cNvSpPr txBox="1"/>
          <p:nvPr/>
        </p:nvSpPr>
        <p:spPr>
          <a:xfrm>
            <a:off x="702530" y="3538165"/>
            <a:ext cx="4439994" cy="954107"/>
          </a:xfrm>
          <a:prstGeom prst="rect">
            <a:avLst/>
          </a:prstGeom>
          <a:noFill/>
        </p:spPr>
        <p:txBody>
          <a:bodyPr wrap="square" rtlCol="0">
            <a:spAutoFit/>
          </a:bodyPr>
          <a:lstStyle/>
          <a:p>
            <a:r>
              <a:rPr lang="en-ZA" sz="1400" dirty="0"/>
              <a:t>Morning hours from 00:00:00 to 11:59:59 has the highest sales compared to afternoon and evening hours. </a:t>
            </a:r>
            <a:r>
              <a:rPr lang="en-GB" sz="1400" dirty="0"/>
              <a:t>This is likely due to customers purchasing coffee and breakfast items at the start of their day.</a:t>
            </a:r>
            <a:endParaRPr lang="en-ZA" sz="1400" dirty="0"/>
          </a:p>
        </p:txBody>
      </p:sp>
    </p:spTree>
    <p:extLst>
      <p:ext uri="{BB962C8B-B14F-4D97-AF65-F5344CB8AC3E}">
        <p14:creationId xmlns:p14="http://schemas.microsoft.com/office/powerpoint/2010/main" val="3914277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ECBD1-EA9C-BB64-0D05-D92879CF9371}"/>
              </a:ext>
            </a:extLst>
          </p:cNvPr>
          <p:cNvSpPr>
            <a:spLocks noGrp="1"/>
          </p:cNvSpPr>
          <p:nvPr>
            <p:ph type="title"/>
          </p:nvPr>
        </p:nvSpPr>
        <p:spPr/>
        <p:txBody>
          <a:bodyPr>
            <a:normAutofit/>
          </a:bodyPr>
          <a:lstStyle/>
          <a:p>
            <a:r>
              <a:rPr lang="en-GB" dirty="0"/>
              <a:t>Quantity sold by product category</a:t>
            </a:r>
            <a:endParaRPr lang="en-ZA" dirty="0"/>
          </a:p>
        </p:txBody>
      </p:sp>
      <p:sp>
        <p:nvSpPr>
          <p:cNvPr id="3" name="Content Placeholder 2">
            <a:extLst>
              <a:ext uri="{FF2B5EF4-FFF2-40B4-BE49-F238E27FC236}">
                <a16:creationId xmlns:a16="http://schemas.microsoft.com/office/drawing/2014/main" id="{AF488715-AFC0-C808-2898-46A4BB4E6150}"/>
              </a:ext>
            </a:extLst>
          </p:cNvPr>
          <p:cNvSpPr>
            <a:spLocks noGrp="1"/>
          </p:cNvSpPr>
          <p:nvPr>
            <p:ph idx="1"/>
          </p:nvPr>
        </p:nvSpPr>
        <p:spPr>
          <a:xfrm>
            <a:off x="700635" y="1513115"/>
            <a:ext cx="10691265" cy="4535859"/>
          </a:xfrm>
        </p:spPr>
        <p:txBody>
          <a:bodyPr/>
          <a:lstStyle/>
          <a:p>
            <a:r>
              <a:rPr lang="en-GB" dirty="0"/>
              <a:t>Coffee has the highest number of items sold, followed by tea, with bakery products ranking third.</a:t>
            </a:r>
            <a:endParaRPr lang="en-ZA" dirty="0"/>
          </a:p>
        </p:txBody>
      </p:sp>
      <p:graphicFrame>
        <p:nvGraphicFramePr>
          <p:cNvPr id="6" name="Object 5">
            <a:extLst>
              <a:ext uri="{FF2B5EF4-FFF2-40B4-BE49-F238E27FC236}">
                <a16:creationId xmlns:a16="http://schemas.microsoft.com/office/drawing/2014/main" id="{99AFF4FF-C892-D31F-E946-79592B47A962}"/>
              </a:ext>
            </a:extLst>
          </p:cNvPr>
          <p:cNvGraphicFramePr>
            <a:graphicFrameLocks noChangeAspect="1"/>
          </p:cNvGraphicFramePr>
          <p:nvPr>
            <p:extLst>
              <p:ext uri="{D42A27DB-BD31-4B8C-83A1-F6EECF244321}">
                <p14:modId xmlns:p14="http://schemas.microsoft.com/office/powerpoint/2010/main" val="902383730"/>
              </p:ext>
            </p:extLst>
          </p:nvPr>
        </p:nvGraphicFramePr>
        <p:xfrm>
          <a:off x="908957" y="2373876"/>
          <a:ext cx="5851072" cy="3569723"/>
        </p:xfrm>
        <a:graphic>
          <a:graphicData uri="http://schemas.openxmlformats.org/presentationml/2006/ole">
            <mc:AlternateContent xmlns:mc="http://schemas.openxmlformats.org/markup-compatibility/2006">
              <mc:Choice xmlns:v="urn:schemas-microsoft-com:vml" Requires="v">
                <p:oleObj name="Worksheet" r:id="rId2" imgW="5419484" imgH="3746295" progId="Excel.Sheet.12">
                  <p:link updateAutomatic="1"/>
                </p:oleObj>
              </mc:Choice>
              <mc:Fallback>
                <p:oleObj name="Worksheet" r:id="rId2" imgW="5419484" imgH="3746295" progId="Excel.Sheet.12">
                  <p:link updateAutomatic="1"/>
                  <p:pic>
                    <p:nvPicPr>
                      <p:cNvPr id="0" name=""/>
                      <p:cNvPicPr/>
                      <p:nvPr/>
                    </p:nvPicPr>
                    <p:blipFill>
                      <a:blip r:embed="rId3"/>
                      <a:stretch>
                        <a:fillRect/>
                      </a:stretch>
                    </p:blipFill>
                    <p:spPr>
                      <a:xfrm>
                        <a:off x="908957" y="2373876"/>
                        <a:ext cx="5851072" cy="3569723"/>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F429CD7D-E318-16DB-8AE5-F39DC67CCAAA}"/>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929090" y="2116062"/>
            <a:ext cx="1712089" cy="1137113"/>
          </a:xfrm>
          <a:prstGeom prst="rect">
            <a:avLst/>
          </a:prstGeom>
        </p:spPr>
      </p:pic>
      <p:pic>
        <p:nvPicPr>
          <p:cNvPr id="10" name="Picture 9">
            <a:extLst>
              <a:ext uri="{FF2B5EF4-FFF2-40B4-BE49-F238E27FC236}">
                <a16:creationId xmlns:a16="http://schemas.microsoft.com/office/drawing/2014/main" id="{E71C8E96-B7DB-D2AD-CE4A-D06A54DC8020}"/>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8041510" y="3358550"/>
            <a:ext cx="1487250" cy="1503362"/>
          </a:xfrm>
          <a:prstGeom prst="rect">
            <a:avLst/>
          </a:prstGeom>
        </p:spPr>
      </p:pic>
      <p:pic>
        <p:nvPicPr>
          <p:cNvPr id="12" name="Picture 11">
            <a:extLst>
              <a:ext uri="{FF2B5EF4-FFF2-40B4-BE49-F238E27FC236}">
                <a16:creationId xmlns:a16="http://schemas.microsoft.com/office/drawing/2014/main" id="{8FF16611-C72D-7F37-176F-BB85A4E7FE3B}"/>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8131537" y="4967287"/>
            <a:ext cx="1307196" cy="976312"/>
          </a:xfrm>
          <a:prstGeom prst="rect">
            <a:avLst/>
          </a:prstGeom>
        </p:spPr>
      </p:pic>
    </p:spTree>
    <p:extLst>
      <p:ext uri="{BB962C8B-B14F-4D97-AF65-F5344CB8AC3E}">
        <p14:creationId xmlns:p14="http://schemas.microsoft.com/office/powerpoint/2010/main" val="483743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A749A-8E5D-1101-CA56-757FE3F7C8FD}"/>
              </a:ext>
            </a:extLst>
          </p:cNvPr>
          <p:cNvSpPr>
            <a:spLocks noGrp="1"/>
          </p:cNvSpPr>
          <p:nvPr>
            <p:ph type="title"/>
          </p:nvPr>
        </p:nvSpPr>
        <p:spPr/>
        <p:txBody>
          <a:bodyPr>
            <a:normAutofit/>
          </a:bodyPr>
          <a:lstStyle/>
          <a:p>
            <a:r>
              <a:rPr lang="en-ZA" sz="3600" dirty="0"/>
              <a:t>Product details and revenue per day</a:t>
            </a:r>
          </a:p>
        </p:txBody>
      </p:sp>
      <p:sp>
        <p:nvSpPr>
          <p:cNvPr id="3" name="Content Placeholder 2">
            <a:extLst>
              <a:ext uri="{FF2B5EF4-FFF2-40B4-BE49-F238E27FC236}">
                <a16:creationId xmlns:a16="http://schemas.microsoft.com/office/drawing/2014/main" id="{5E872A38-4573-2705-FD32-FF858AE976A7}"/>
              </a:ext>
            </a:extLst>
          </p:cNvPr>
          <p:cNvSpPr>
            <a:spLocks noGrp="1"/>
          </p:cNvSpPr>
          <p:nvPr>
            <p:ph idx="1"/>
          </p:nvPr>
        </p:nvSpPr>
        <p:spPr>
          <a:xfrm>
            <a:off x="700634" y="1931046"/>
            <a:ext cx="11383993" cy="4334672"/>
          </a:xfrm>
        </p:spPr>
        <p:txBody>
          <a:bodyPr>
            <a:normAutofit/>
          </a:bodyPr>
          <a:lstStyle/>
          <a:p>
            <a:r>
              <a:rPr lang="en-ZA" sz="1600" dirty="0"/>
              <a:t>Large and regular size products are the most selling ones and are generating more revenue especially the tea and coffee categories.</a:t>
            </a:r>
          </a:p>
        </p:txBody>
      </p:sp>
      <p:graphicFrame>
        <p:nvGraphicFramePr>
          <p:cNvPr id="4" name="Object 3">
            <a:extLst>
              <a:ext uri="{FF2B5EF4-FFF2-40B4-BE49-F238E27FC236}">
                <a16:creationId xmlns:a16="http://schemas.microsoft.com/office/drawing/2014/main" id="{EF19E410-53D3-05E7-35A2-9751D707D5A4}"/>
              </a:ext>
            </a:extLst>
          </p:cNvPr>
          <p:cNvGraphicFramePr>
            <a:graphicFrameLocks noChangeAspect="1"/>
          </p:cNvGraphicFramePr>
          <p:nvPr>
            <p:extLst>
              <p:ext uri="{D42A27DB-BD31-4B8C-83A1-F6EECF244321}">
                <p14:modId xmlns:p14="http://schemas.microsoft.com/office/powerpoint/2010/main" val="798841774"/>
              </p:ext>
            </p:extLst>
          </p:nvPr>
        </p:nvGraphicFramePr>
        <p:xfrm>
          <a:off x="700635" y="2841194"/>
          <a:ext cx="7544596" cy="3102406"/>
        </p:xfrm>
        <a:graphic>
          <a:graphicData uri="http://schemas.openxmlformats.org/presentationml/2006/ole">
            <mc:AlternateContent xmlns:mc="http://schemas.openxmlformats.org/markup-compatibility/2006">
              <mc:Choice xmlns:v="urn:schemas-microsoft-com:vml" Requires="v">
                <p:oleObj name="Worksheet" r:id="rId2" imgW="7720776" imgH="3487085" progId="Excel.Sheet.12">
                  <p:link updateAutomatic="1"/>
                </p:oleObj>
              </mc:Choice>
              <mc:Fallback>
                <p:oleObj name="Worksheet" r:id="rId2" imgW="7720776" imgH="3487085" progId="Excel.Sheet.12">
                  <p:link updateAutomatic="1"/>
                  <p:pic>
                    <p:nvPicPr>
                      <p:cNvPr id="0" name=""/>
                      <p:cNvPicPr/>
                      <p:nvPr/>
                    </p:nvPicPr>
                    <p:blipFill>
                      <a:blip r:embed="rId3"/>
                      <a:stretch>
                        <a:fillRect/>
                      </a:stretch>
                    </p:blipFill>
                    <p:spPr>
                      <a:xfrm>
                        <a:off x="700635" y="2841194"/>
                        <a:ext cx="7544596" cy="3102406"/>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EADC336F-5495-5ED8-4266-264038E128E7}"/>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622324" y="3066073"/>
            <a:ext cx="3316653" cy="2300611"/>
          </a:xfrm>
          <a:prstGeom prst="rect">
            <a:avLst/>
          </a:prstGeom>
        </p:spPr>
      </p:pic>
    </p:spTree>
    <p:extLst>
      <p:ext uri="{BB962C8B-B14F-4D97-AF65-F5344CB8AC3E}">
        <p14:creationId xmlns:p14="http://schemas.microsoft.com/office/powerpoint/2010/main" val="3437215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4489F-B6CB-6700-9AAD-25D4D25BD323}"/>
              </a:ext>
            </a:extLst>
          </p:cNvPr>
          <p:cNvSpPr>
            <a:spLocks noGrp="1"/>
          </p:cNvSpPr>
          <p:nvPr>
            <p:ph type="title"/>
          </p:nvPr>
        </p:nvSpPr>
        <p:spPr/>
        <p:txBody>
          <a:bodyPr/>
          <a:lstStyle/>
          <a:p>
            <a:r>
              <a:rPr lang="en-GB" dirty="0"/>
              <a:t>Recommendations</a:t>
            </a:r>
            <a:endParaRPr lang="en-ZA" dirty="0"/>
          </a:p>
        </p:txBody>
      </p:sp>
      <p:sp>
        <p:nvSpPr>
          <p:cNvPr id="3" name="Content Placeholder 2">
            <a:extLst>
              <a:ext uri="{FF2B5EF4-FFF2-40B4-BE49-F238E27FC236}">
                <a16:creationId xmlns:a16="http://schemas.microsoft.com/office/drawing/2014/main" id="{60799A65-AD24-88F3-FE88-E6B9242752DF}"/>
              </a:ext>
            </a:extLst>
          </p:cNvPr>
          <p:cNvSpPr>
            <a:spLocks noGrp="1"/>
          </p:cNvSpPr>
          <p:nvPr>
            <p:ph idx="1"/>
          </p:nvPr>
        </p:nvSpPr>
        <p:spPr/>
        <p:txBody>
          <a:bodyPr>
            <a:normAutofit lnSpcReduction="10000"/>
          </a:bodyPr>
          <a:lstStyle/>
          <a:p>
            <a:r>
              <a:rPr lang="en-GB" dirty="0"/>
              <a:t>Hell’s kitchen has the highest revenue compared to all the others. The CEO should implement the same strategies they use from this location to the other locations.</a:t>
            </a:r>
          </a:p>
          <a:p>
            <a:r>
              <a:rPr lang="en-GB" dirty="0"/>
              <a:t>Products categories such as Branded, loose tea, coffee beans and packaged chocolate must not be sold every month since they generate less revenue.</a:t>
            </a:r>
          </a:p>
          <a:p>
            <a:r>
              <a:rPr lang="en-GB" dirty="0"/>
              <a:t>Sales are lower in the evening, so the store should focus on selling specific products during that time</a:t>
            </a:r>
          </a:p>
          <a:p>
            <a:r>
              <a:rPr lang="en-GB" dirty="0"/>
              <a:t>The coffee shop should run specials for generating more revenue on weekends to increase revenue</a:t>
            </a:r>
          </a:p>
          <a:p>
            <a:r>
              <a:rPr lang="en-GB" dirty="0"/>
              <a:t>Ensure that high-performing products like Barista Espresso are always in stock across all locations.</a:t>
            </a:r>
          </a:p>
          <a:p>
            <a:endParaRPr lang="en-GB" dirty="0"/>
          </a:p>
        </p:txBody>
      </p:sp>
    </p:spTree>
    <p:extLst>
      <p:ext uri="{BB962C8B-B14F-4D97-AF65-F5344CB8AC3E}">
        <p14:creationId xmlns:p14="http://schemas.microsoft.com/office/powerpoint/2010/main" val="2587400797"/>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415</TotalTime>
  <Words>406</Words>
  <Application>Microsoft Office PowerPoint</Application>
  <PresentationFormat>Widescreen</PresentationFormat>
  <Paragraphs>29</Paragraphs>
  <Slides>9</Slides>
  <Notes>2</Notes>
  <HiddenSlides>0</HiddenSlides>
  <MMClips>1</MMClips>
  <ScaleCrop>false</ScaleCrop>
  <HeadingPairs>
    <vt:vector size="8" baseType="variant">
      <vt:variant>
        <vt:lpstr>Fonts Used</vt:lpstr>
      </vt:variant>
      <vt:variant>
        <vt:i4>4</vt:i4>
      </vt:variant>
      <vt:variant>
        <vt:lpstr>Theme</vt:lpstr>
      </vt:variant>
      <vt:variant>
        <vt:i4>1</vt:i4>
      </vt:variant>
      <vt:variant>
        <vt:lpstr>Links</vt:lpstr>
      </vt:variant>
      <vt:variant>
        <vt:i4>7</vt:i4>
      </vt:variant>
      <vt:variant>
        <vt:lpstr>Slide Titles</vt:lpstr>
      </vt:variant>
      <vt:variant>
        <vt:i4>9</vt:i4>
      </vt:variant>
    </vt:vector>
  </HeadingPairs>
  <TitlesOfParts>
    <vt:vector size="21" baseType="lpstr">
      <vt:lpstr>Aptos</vt:lpstr>
      <vt:lpstr>Arial</vt:lpstr>
      <vt:lpstr>Calisto MT</vt:lpstr>
      <vt:lpstr>Univers Condensed</vt:lpstr>
      <vt:lpstr>ChronicleVTI</vt:lpstr>
      <vt:lpstr>file:///C:\Users\amaswanganye\Downloads\Visualization%20analysis.xlsx!Revenue_per_product_per_day!%5bVisualization%20analysis.xlsx%5dRevenue_per_product_per_day%20Chart%201</vt:lpstr>
      <vt:lpstr>file:///C:\Users\amaswanganye\Downloads\Visualization%20analysis.xlsx!Revenue_per_store_location!%5bVisualization%20analysis.xlsx%5dRevenue_per_store_location%20Chart%202</vt:lpstr>
      <vt:lpstr>file:///C:\Users\amaswanganye\Downloads\Visualization%20analysis.xlsx!Revenue_per_weekday_and_weekend!%5bVisualization%20analysis.xlsx%5dRevenue_per_weekday_and_weekend%20Chart%201</vt:lpstr>
      <vt:lpstr>file:///C:\Users\amaswanganye\Downloads\Visualization%20analysis.xlsx!Revenue%20_per_month_per_store!%5bVisualization%20analysis.xlsx%5dRevenue%20_per_month_per_store%20Chart%201</vt:lpstr>
      <vt:lpstr>file:///C:\Users\amaswanganye\Downloads\Visualization%20analysis.xlsx!Peak_time_sales!%5bVisualization%20analysis.xlsx%5dPeak_time_sales%20Chart%201</vt:lpstr>
      <vt:lpstr>file:///C:\Users\amaswanganye\Downloads\Visualization%20analysis.xlsx!Qty_items_sold_per_product!%5bVisualization%20analysis.xlsx%5dQty_items_sold_per_product%20Chart%201</vt:lpstr>
      <vt:lpstr>file:///C:\Users\amaswanganye\Downloads\Visualization%20analysis.xlsx!Most_selling_product_by_reve!%5bVisualization%20analysis.xlsx%5dMost_selling_product_by_reve%20Chart%201</vt:lpstr>
      <vt:lpstr>Bright Coffee Shop Analysis</vt:lpstr>
      <vt:lpstr>PowerPoint Presentation</vt:lpstr>
      <vt:lpstr>High Performance </vt:lpstr>
      <vt:lpstr>Comparison of revenue between store and week</vt:lpstr>
      <vt:lpstr>Revenue by the three stores from jan to Jun</vt:lpstr>
      <vt:lpstr>PowerPoint Presentation</vt:lpstr>
      <vt:lpstr>Quantity sold by product category</vt:lpstr>
      <vt:lpstr>Product details and revenue per day</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Andile Maswanganye</dc:creator>
  <cp:lastModifiedBy>Andile Maswanganye</cp:lastModifiedBy>
  <cp:revision>3</cp:revision>
  <dcterms:created xsi:type="dcterms:W3CDTF">2026-04-01T08:32:51Z</dcterms:created>
  <dcterms:modified xsi:type="dcterms:W3CDTF">2026-04-02T07:11:31Z</dcterms:modified>
</cp:coreProperties>
</file>